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2800" dirty="0"/>
          </a:p>
        </p:txBody>
      </p:sp>
      <p:pic>
        <p:nvPicPr>
          <p:cNvPr id="3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28600"/>
            <a:ext cx="1554480" cy="6675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371600"/>
            <a:ext cx="3017520" cy="3108960"/>
          </a:xfrm>
          <a:prstGeom prst="hexagon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5" name="Image 1" descr="img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1828800" cy="212824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09728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SIH26236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Food Packaging Material Recommendation System for Food Commodities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FoodTech &amp; Rural Development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137649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058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PackMind: AI + Physics Packaging Copilot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114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“which film?” to “what will happen inside the pack?”</a:t>
            </a:r>
            <a:endParaRPr lang="en-US" sz="1200" dirty="0"/>
          </a:p>
        </p:txBody>
      </p:sp>
      <p:pic>
        <p:nvPicPr>
          <p:cNvPr id="6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"/>
            <a:ext cx="1325880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896112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5E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2880" y="1115568"/>
            <a:ext cx="4023360" cy="153619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PackMind does not look up a film. It simulates what happens inside the pack, then picks the cheapest, greenest film that keeps the food safe.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commodity, moisture, fat, pH, respiration rate, shelf life, temperature, RH, transport, storage type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required OTR, WVTR, thickness, sealability, strength, MAP suitability and gas mix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LDPE, HDPE, PET, metalized, foil laminate, biodegradable and breathable films on fit, cost and sustainability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why, with source and confidence for every number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7160" y="288036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2880" y="3108960"/>
            <a:ext cx="4023360" cy="173736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10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gap: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MSMEs and startups get expert-level packaging advice instantly, in regional languages, without consultants or lab trials.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10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loss: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come from moisture-gain and respiration physics, preventing moisture pickup, rancidity, mould and “suffocated” produce.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10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Over-packaging: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minimum sufficient barrier, cutting packaging cost and plastic waste.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89120" y="1097280"/>
            <a:ext cx="804672" cy="1600200"/>
          </a:xfrm>
          <a:prstGeom prst="roundRect">
            <a:avLst>
              <a:gd name="adj" fmla="val 6818"/>
            </a:avLst>
          </a:prstGeom>
          <a:solidFill>
            <a:srgbClr val="FFF5E8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54296" y="1161288"/>
            <a:ext cx="274320" cy="274320"/>
          </a:xfrm>
          <a:prstGeom prst="ellipse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54296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389120" y="1463040"/>
            <a:ext cx="804672" cy="1207008"/>
          </a:xfrm>
          <a:prstGeom prst="rect">
            <a:avLst/>
          </a:prstGeom>
          <a:noFill/>
          <a:ln/>
        </p:spPr>
        <p:txBody>
          <a:bodyPr wrap="square" lIns="25400" tIns="38100" rIns="381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+ conditions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shelf life, storage, transport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198364" y="1783080"/>
            <a:ext cx="132588" cy="182880"/>
          </a:xfrm>
          <a:prstGeom prst="rightArrow">
            <a:avLst/>
          </a:prstGeom>
          <a:solidFill>
            <a:srgbClr val="F8C98B"/>
          </a:solidFill>
          <a:ln w="6350">
            <a:solidFill>
              <a:srgbClr val="C986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30952" y="1097280"/>
            <a:ext cx="804672" cy="160020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96128" y="1161288"/>
            <a:ext cx="274320" cy="274320"/>
          </a:xfrm>
          <a:prstGeom prst="ellipse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96128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330952" y="1463040"/>
            <a:ext cx="804672" cy="1207008"/>
          </a:xfrm>
          <a:prstGeom prst="rect">
            <a:avLst/>
          </a:prstGeom>
          <a:noFill/>
          <a:ln/>
        </p:spPr>
        <p:txBody>
          <a:bodyPr wrap="square" lIns="25400" tIns="38100" rIns="381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damage this food? Filter unsuitable films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140196" y="1783080"/>
            <a:ext cx="132588" cy="182880"/>
          </a:xfrm>
          <a:prstGeom prst="rightArrow">
            <a:avLst/>
          </a:prstGeom>
          <a:solidFill>
            <a:srgbClr val="F8C98B"/>
          </a:solidFill>
          <a:ln w="6350">
            <a:solidFill>
              <a:srgbClr val="C986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1097280"/>
            <a:ext cx="804672" cy="1600200"/>
          </a:xfrm>
          <a:prstGeom prst="roundRect">
            <a:avLst>
              <a:gd name="adj" fmla="val 6818"/>
            </a:avLst>
          </a:prstGeom>
          <a:solidFill>
            <a:srgbClr val="FFF5E8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37960" y="1161288"/>
            <a:ext cx="274320" cy="274320"/>
          </a:xfrm>
          <a:prstGeom prst="ellipse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37960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272784" y="1463040"/>
            <a:ext cx="804672" cy="1207008"/>
          </a:xfrm>
          <a:prstGeom prst="rect">
            <a:avLst/>
          </a:prstGeom>
          <a:noFill/>
          <a:ln/>
        </p:spPr>
        <p:txBody>
          <a:bodyPr wrap="square" lIns="25400" tIns="38100" rIns="381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simulator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gas balance, moisture gain, Q10; stress test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082028" y="1783080"/>
            <a:ext cx="132588" cy="182880"/>
          </a:xfrm>
          <a:prstGeom prst="rightArrow">
            <a:avLst/>
          </a:prstGeom>
          <a:solidFill>
            <a:srgbClr val="F8C98B"/>
          </a:solidFill>
          <a:ln w="6350">
            <a:solidFill>
              <a:srgbClr val="C986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14616" y="1097280"/>
            <a:ext cx="804672" cy="160020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9792" y="1161288"/>
            <a:ext cx="274320" cy="274320"/>
          </a:xfrm>
          <a:prstGeom prst="ellipse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79792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214616" y="1463040"/>
            <a:ext cx="804672" cy="1207008"/>
          </a:xfrm>
          <a:prstGeom prst="rect">
            <a:avLst/>
          </a:prstGeom>
          <a:noFill/>
          <a:ln/>
        </p:spPr>
        <p:txBody>
          <a:bodyPr wrap="square" lIns="25400" tIns="38100" rIns="381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on fit, cost, sustainability (Pareto)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023860" y="1783080"/>
            <a:ext cx="132588" cy="182880"/>
          </a:xfrm>
          <a:prstGeom prst="rightArrow">
            <a:avLst/>
          </a:prstGeom>
          <a:solidFill>
            <a:srgbClr val="F8C98B"/>
          </a:solidFill>
          <a:ln w="6350">
            <a:solidFill>
              <a:srgbClr val="C986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156448" y="1097280"/>
            <a:ext cx="804672" cy="1600200"/>
          </a:xfrm>
          <a:prstGeom prst="roundRect">
            <a:avLst>
              <a:gd name="adj" fmla="val 6818"/>
            </a:avLst>
          </a:prstGeom>
          <a:solidFill>
            <a:srgbClr val="FFF5E8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21624" y="1161288"/>
            <a:ext cx="274320" cy="274320"/>
          </a:xfrm>
          <a:prstGeom prst="ellipse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21624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156448" y="1463040"/>
            <a:ext cx="804672" cy="1207008"/>
          </a:xfrm>
          <a:prstGeom prst="rect">
            <a:avLst/>
          </a:prstGeom>
          <a:noFill/>
          <a:ln/>
        </p:spPr>
        <p:txBody>
          <a:bodyPr wrap="square" lIns="25400" tIns="38100" rIns="381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specs, alternatives, why, QR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389120" y="278892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9863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389120" y="2788920"/>
            <a:ext cx="45720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chips, ambient, 6 months → high O₂, moisture and light barrier → computed OTR/WVTR limits → metalized PET/PE laminate, N₂-flush MAP, plus cheaper and greener alternatives.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389120" y="356616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FFF5E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34840" y="3657600"/>
            <a:ext cx="4480560" cy="118872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required OTR/WVTR instead of guessing (MAP equilibrium, Labuza moisture gain, Q10).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digital twin: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supply-chain stress test gives the probability the food survives its shelf life.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+ traceable data: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options (best / cheapest / greenest); every number carries source, confidence or a “data gap” flag.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57200" y="777240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57200" y="7772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20040" y="2761488"/>
            <a:ext cx="310896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20040" y="276148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 :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212080" y="777240"/>
            <a:ext cx="210312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212080" y="77724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DIAGRAM: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617720" y="3438144"/>
            <a:ext cx="411480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617720" y="343814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UNIQUENESS OF THE SOLUTION :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058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200" dirty="0"/>
          </a:p>
        </p:txBody>
      </p:sp>
      <p:pic>
        <p:nvPicPr>
          <p:cNvPr id="5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"/>
            <a:ext cx="132588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7160" y="98755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5E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2880" y="98755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 / Flutter; Hindi and Marathi voice input; offline-first for low connectivity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37160" y="153619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EEF5F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2880" y="153619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Pydantic-validated request and output schemas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37160" y="208483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5E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2880" y="208483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engine: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(ODE) for MAP gas balance; Labuza moisture-gain model; Q10 / Arrhenius temperature correction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37160" y="263347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EEF5F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2880" y="263347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ranker: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XGBoost and similarity search on the normalized material dataset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37160" y="318211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5E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82880" y="318211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or weighted Pareto over technical fit, cost, CO₂ footprint and recyclability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37160" y="373075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EEF5F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82880" y="373075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SQLite: materials, foods, requirement mapping, each row with source, DOI and confidence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37160" y="427939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5E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82880" y="427939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extras: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 Chart.js, PDF spec sheet, QR packaging passport; optional ESP32 + MQTT validator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434840" y="987552"/>
            <a:ext cx="4480560" cy="365760"/>
          </a:xfrm>
          <a:prstGeom prst="roundRect">
            <a:avLst>
              <a:gd name="adj" fmla="val 15000"/>
            </a:avLst>
          </a:prstGeom>
          <a:solidFill>
            <a:srgbClr val="F8C98B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34840" y="987552"/>
            <a:ext cx="4480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 (PWA, regional voice, offline queue)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675120" y="1353312"/>
            <a:ext cx="0" cy="164592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434840" y="1517904"/>
            <a:ext cx="4480560" cy="329184"/>
          </a:xfrm>
          <a:prstGeom prst="roundRect">
            <a:avLst>
              <a:gd name="adj" fmla="val 16667"/>
            </a:avLst>
          </a:prstGeom>
          <a:solidFill>
            <a:srgbClr val="D9E8F7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34840" y="1517904"/>
            <a:ext cx="44805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· validation · orchestration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675120" y="1847088"/>
            <a:ext cx="0" cy="164592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434840" y="20116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3484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/ constraint filter removes unsuitable films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43600" y="20116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4360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simulator: MAP, moisture gain, Q10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452360" y="201168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52360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Monte Carlo temperature abuse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675120" y="2743200"/>
            <a:ext cx="0" cy="164592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434840" y="2907792"/>
            <a:ext cx="4480560" cy="384048"/>
          </a:xfrm>
          <a:prstGeom prst="roundRect">
            <a:avLst>
              <a:gd name="adj" fmla="val 14286"/>
            </a:avLst>
          </a:prstGeom>
          <a:solidFill>
            <a:srgbClr val="FFE3DC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434840" y="2907792"/>
            <a:ext cx="44805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ranker + Pareto optimizer (fit · cost · sustainability)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675120" y="3291840"/>
            <a:ext cx="0" cy="164592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4434840" y="3456432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D9E8F7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434840" y="3456432"/>
            <a:ext cx="2194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 / B / C (materials, foods, requirements)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720840" y="3456432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D9E8F7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720840" y="3456432"/>
            <a:ext cx="2194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+ RAG: source, confidence, data gap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75120" y="3959352"/>
            <a:ext cx="0" cy="164592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4434840" y="4123944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434840" y="4123944"/>
            <a:ext cx="4480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PDF spec sheet · QR passport · optional ESP32 pack validation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37160" y="685800"/>
            <a:ext cx="146304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37160" y="68580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669280" y="685800"/>
            <a:ext cx="256032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669280" y="6858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: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058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114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PHYSICS-BACKED • EVIDENCE-GROUNDED • MODULAR SCALE</a:t>
            </a:r>
            <a:endParaRPr lang="en-US" sz="1200" dirty="0"/>
          </a:p>
        </p:txBody>
      </p:sp>
      <p:pic>
        <p:nvPicPr>
          <p:cNvPr id="6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"/>
            <a:ext cx="1325880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7772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7160" y="7772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7160" y="12801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established food-packaging science (MAP modelling, Labuza shelf life) with open-source Python tools; ML only ranks options.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554480" y="7772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54480" y="7772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55448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54480" y="12801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datasets and open-source stack keep build and hosting cost low; no special hardware needed for users.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971800" y="7772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71800" y="7772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VIABILITY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97180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71800" y="12801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form or voice in Hindi/Marathi; plain-language “why” lets non-experts trust and act on the result.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37160" y="2834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3716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7160" y="33375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7160" y="33375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20–30 commodities; experts from NIFTEM/CFTRI-type institutes can validate the requirement tables.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554480" y="2834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55448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554480" y="33375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554480" y="33375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foods, films and languages as data rows; modular services and an API serve FPOs and cold-chain firms.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971800" y="2834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7180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VIABILITY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971800" y="33375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971800" y="33375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for farmers; subscriptions and API access for MSMEs and industry (see Impact slide).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777240"/>
          <a:ext cx="4434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1089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Credible packaging dataset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sources (Food-Pack-Mapper, CIRAD, NIFTEM-T, CFTRI, FAO); confidence tag and DOI on every row.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ground truth for ML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come from physics; ML is used only for ranking and similarity.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units and test conditions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 OTR/WVTR units, temperature and RH before use; never mix raw values.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data for new foods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 “data gap” flag instead of guessing; route to expert review.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3108960"/>
          <a:ext cx="44348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16916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inputs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gas balance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OTR, micro-perforation, gas mix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Respiration rate, mass, area, target O₂/CO₂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Labuza moisture gain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allowed WVTR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Initial, critical, equilibrium moisture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 / Arrhenius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correction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and transport profile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 Carlo stress test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probability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Temperature-abuse scenarios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Pareto optimizer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/ cheapest / greenest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Fit, cost, CO₂, recyclability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058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114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food waste • lower packaging cost • less plastic</a:t>
            </a:r>
            <a:endParaRPr lang="en-US" sz="1200" dirty="0"/>
          </a:p>
        </p:txBody>
      </p:sp>
      <p:pic>
        <p:nvPicPr>
          <p:cNvPr id="6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"/>
            <a:ext cx="1325880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024128"/>
            <a:ext cx="2011680" cy="804672"/>
          </a:xfrm>
          <a:prstGeom prst="roundRect">
            <a:avLst>
              <a:gd name="adj" fmla="val 11364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7160" y="1024128"/>
            <a:ext cx="2011680" cy="8046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post-harvest packaging means less spoilage and better prices.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212848" y="1024128"/>
            <a:ext cx="2011680" cy="804672"/>
          </a:xfrm>
          <a:prstGeom prst="roundRect">
            <a:avLst>
              <a:gd name="adj" fmla="val 11364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12848" y="1024128"/>
            <a:ext cx="2011680" cy="8046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&amp; startups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expert fees or trial-and-error cost for new products.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37160" y="1892808"/>
            <a:ext cx="2011680" cy="804672"/>
          </a:xfrm>
          <a:prstGeom prst="roundRect">
            <a:avLst>
              <a:gd name="adj" fmla="val 11364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7160" y="1892808"/>
            <a:ext cx="2011680" cy="8046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industry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packaging cuts cost, plastic and rejected batches.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212848" y="1892808"/>
            <a:ext cx="2011680" cy="804672"/>
          </a:xfrm>
          <a:prstGeom prst="roundRect">
            <a:avLst>
              <a:gd name="adj" fmla="val 11364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212848" y="1892808"/>
            <a:ext cx="2011680" cy="8046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options and less over-packaging lower plastic and CO₂.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37160" y="2907792"/>
            <a:ext cx="4087368" cy="1938528"/>
          </a:xfrm>
          <a:prstGeom prst="roundRect">
            <a:avLst>
              <a:gd name="adj" fmla="val 4717"/>
            </a:avLst>
          </a:prstGeom>
          <a:solidFill>
            <a:srgbClr val="FFF5E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2880" y="3127248"/>
            <a:ext cx="4023360" cy="169164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FPOs and students get core recommendations at no cost.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plans: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and manufacturers pay for saved projects, stress tests and PDF spec sheets.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firms, FPOs and government portals integrate PackMind.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leads: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film suppliers pay for qualified enquiries, kept separate from ranking.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MoFPI, NIFTEM and CSR grants for rural onboarding.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777240"/>
          <a:ext cx="4572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delivered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advice for everyone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properties in, packaging decision out, no consultant needed.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specifications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OTR, WVTR, thickness, sealability, strength, MAP suitability.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Fresh-produce intelligence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Respiration-aware breathable / micro-perforated film and gas mix.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optimization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film within the user’s per-pack budget.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 analysis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Recyclable and eco-friendly alternatives with footprint score.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Shelf-life and risk prediction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probability across the real supply chain.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traceability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spec, storage advice and recycling instructions in one QR.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4389120" y="3529584"/>
            <a:ext cx="4572000" cy="1316736"/>
          </a:xfrm>
          <a:prstGeom prst="roundRect">
            <a:avLst>
              <a:gd name="adj" fmla="val 6944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434840" y="3584448"/>
            <a:ext cx="4480560" cy="123444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Pack Validator: low-cost ESP32 O₂/CO₂/RH sensor to compare real and simulated gas curves and recalibrate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voice / WhatsApp copilot for farmers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marketplace and API for FPOs, cold-chain firms and government portals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beyond 30 commodities as verified data grows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74320" y="731520"/>
            <a:ext cx="356616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74320" y="73152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THE TARGET AUDIENCE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74320" y="2788920"/>
            <a:ext cx="310896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74320" y="278892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SELF-SUSTAINING BUSINESS MODEL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26480" y="341071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126480" y="341071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058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200" dirty="0"/>
          </a:p>
        </p:txBody>
      </p:sp>
      <p:pic>
        <p:nvPicPr>
          <p:cNvPr id="5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"/>
            <a:ext cx="132588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7160" y="841248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E4F4F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2880" y="914400"/>
            <a:ext cx="4023360" cy="297180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Food-Pack-Mapper (npj Science of Food, 2026):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 OTR/WVTR data points from 49 studies, standardized units; open dataset and code.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CIRAD Dataverse: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food-packaging composition and gas-permeability data from 50 articles, annotated by three experts.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sources: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NIFTEM-T packaging-resin handbook and CFTRI packaging studies add WVTR, strength and sealing data.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packaging properties table: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thickness, transmission, strength and sealing temperature for common films.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Labuza moisture-gain shelf-life model and MAP respiration modelling. Add DOIs for every source used.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37160" y="40233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D9A8"/>
          </a:solidFill>
          <a:ln w="12700">
            <a:solidFill>
              <a:srgbClr val="C986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" y="4023360"/>
            <a:ext cx="411480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for requirements, literature data for materials, a DOI on every number.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024128"/>
          <a:ext cx="4526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85800"/>
                <a:gridCol w="731520"/>
                <a:gridCol w="731520"/>
                <a:gridCol w="640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PS 26236 demands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PackMind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Consultants / lab trials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apps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ML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Food-property based input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OTR / WVTR / thickness specs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Respiration-aware MAP and micro-perforation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+ sustainability optimization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Explainable, source-grounded output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Regional-language, farmer-friendly access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traceability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434840" y="429768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Available   |   △ Partial / limited   |   ✕ Not a core offering   (team’s indicative assessment)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822960" y="713232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71323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VALIDATION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0" y="713232"/>
            <a:ext cx="329184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0" y="713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FEATURE GAP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2026-09-29T11:08:12Z</dcterms:created>
  <dcterms:modified xsi:type="dcterms:W3CDTF">2026-09-29T11:08:12Z</dcterms:modified>
</cp:coreProperties>
</file>