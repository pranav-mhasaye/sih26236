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9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INDIA HACKATHON 2026</a:t>
            </a:r>
            <a:endParaRPr lang="en-US" sz="2800" dirty="0"/>
          </a:p>
        </p:txBody>
      </p:sp>
      <p:pic>
        <p:nvPicPr>
          <p:cNvPr id="3" name="Image 0" descr="img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228600"/>
            <a:ext cx="1554480" cy="66751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60720" y="1371600"/>
            <a:ext cx="3017520" cy="3108960"/>
          </a:xfrm>
          <a:prstGeom prst="hexagon">
            <a:avLst/>
          </a:prstGeom>
          <a:solidFill>
            <a:srgbClr val="EDEDED"/>
          </a:solidFill>
          <a:ln w="12700">
            <a:solidFill>
              <a:srgbClr val="EDEDED"/>
            </a:solidFill>
            <a:prstDash val="solid"/>
          </a:ln>
        </p:spPr>
        <p:txBody>
          <a:bodyPr/>
          <a:p/>
        </p:txBody>
      </p:sp>
      <p:pic>
        <p:nvPicPr>
          <p:cNvPr id="5" name="Image 1" descr="img/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737360"/>
            <a:ext cx="1828800" cy="212824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1097280"/>
            <a:ext cx="51206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E87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ID: </a:t>
            </a:r>
            <a:pPr indent="0" marL="0">
              <a:spcAft>
                <a:spcPts val="9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SIH26236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E87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Title: </a:t>
            </a:r>
            <a:pPr indent="0" marL="0">
              <a:spcAft>
                <a:spcPts val="9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Intelligent Food Packaging Material Recommendation System for Food Commodities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E87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Theme: </a:t>
            </a:r>
            <a:pPr indent="0" marL="0">
              <a:spcAft>
                <a:spcPts val="9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Agriculture, FoodTech &amp; Rural Development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E87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Category: </a:t>
            </a:r>
            <a:pPr indent="0" marL="0">
              <a:spcAft>
                <a:spcPts val="9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E87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ID: </a:t>
            </a:r>
            <a:pPr indent="0" marL="0">
              <a:spcAft>
                <a:spcPts val="9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137649</a:t>
            </a:r>
            <a:endParaRPr lang="en-US" sz="16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E87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Name: </a:t>
            </a:r>
            <a:pPr indent="0" marL="0">
              <a:spcAft>
                <a:spcPts val="9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Kalpataru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91440"/>
            <a:ext cx="100584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A5FA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13716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Kalpataru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45720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PackPulse: AI + Physics Packaging Copilot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41148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7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“which film?” to “what will happen inside the pack?”</a:t>
            </a:r>
            <a:endParaRPr lang="en-US" sz="1200" dirty="0"/>
          </a:p>
        </p:txBody>
      </p:sp>
      <p:pic>
        <p:nvPicPr>
          <p:cNvPr id="6" name="Image 0" descr="img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54864"/>
            <a:ext cx="1325880" cy="5669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8595360" y="4937760"/>
            <a:ext cx="457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37160" y="896112"/>
            <a:ext cx="4114800" cy="1783080"/>
          </a:xfrm>
          <a:prstGeom prst="roundRect">
            <a:avLst>
              <a:gd name="adj" fmla="val 5128"/>
            </a:avLst>
          </a:prstGeom>
          <a:solidFill>
            <a:srgbClr val="FFF5E8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182880" y="1115568"/>
            <a:ext cx="4023360" cy="1536192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PackPulse does not look up a film. It simulates what happens inside the pack, then picks the cheapest, greenest film that keeps the food safe.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 commodity, moisture, fat, pH, respiration rate, shelf life, temperature, RH, transport, storage type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required OTR, WVTR, thickness, sealability, strength, MAP suitability and gas mix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LDPE, HDPE, PET, metalized, foil laminate, biodegradable and breathable films on fit, cost and sustainability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why, with source and confidence for every number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37160" y="2880360"/>
            <a:ext cx="4114800" cy="1965960"/>
          </a:xfrm>
          <a:prstGeom prst="roundRect">
            <a:avLst>
              <a:gd name="adj" fmla="val 4651"/>
            </a:avLst>
          </a:prstGeom>
          <a:solidFill>
            <a:srgbClr val="EEF5FC"/>
          </a:solidFill>
          <a:ln w="12700">
            <a:solidFill>
              <a:srgbClr val="666666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182880" y="3108960"/>
            <a:ext cx="4023360" cy="1737360"/>
          </a:xfrm>
          <a:prstGeom prst="rect">
            <a:avLst/>
          </a:prstGeom>
          <a:noFill/>
          <a:ln/>
        </p:spPr>
        <p:txBody>
          <a:bodyPr wrap="square" lIns="38100" tIns="76200" rIns="76200" bIns="38100" rtlCol="0" anchor="t"/>
          <a:lstStyle/>
          <a:p>
            <a:pPr marL="342900" indent="-342900">
              <a:spcAft>
                <a:spcPts val="300"/>
              </a:spcAft>
              <a:buSzPct val="100000"/>
              <a:buChar char="►"/>
            </a:pPr>
            <a:r>
              <a:rPr lang="en-US" sz="105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 gap: 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farmers, MSMEs and startups get expert-level packaging advice instantly, in regional languages, without consultants or lab trials.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►"/>
            </a:pPr>
            <a:r>
              <a:rPr lang="en-US" sz="105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loss: 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come from moisture-gain and respiration physics, preventing moisture pickup, rancidity, mould and “suffocated” produce.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►"/>
            </a:pPr>
            <a:r>
              <a:rPr lang="en-US" sz="105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Over-packaging: 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minimum sufficient barrier, cutting packaging cost and plastic waste.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389120" y="1097280"/>
            <a:ext cx="804672" cy="1600200"/>
          </a:xfrm>
          <a:prstGeom prst="roundRect">
            <a:avLst>
              <a:gd name="adj" fmla="val 6818"/>
            </a:avLst>
          </a:prstGeom>
          <a:solidFill>
            <a:srgbClr val="FFF5E8"/>
          </a:solidFill>
          <a:ln w="9525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4654296" y="1161288"/>
            <a:ext cx="274320" cy="274320"/>
          </a:xfrm>
          <a:prstGeom prst="ellipse">
            <a:avLst/>
          </a:prstGeom>
          <a:solidFill>
            <a:srgbClr val="8B2A1E"/>
          </a:solidFill>
          <a:ln w="12700">
            <a:solidFill>
              <a:srgbClr val="8B2A1E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4654296" y="1161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4389120" y="1463040"/>
            <a:ext cx="804672" cy="1207008"/>
          </a:xfrm>
          <a:prstGeom prst="rect">
            <a:avLst/>
          </a:prstGeom>
          <a:noFill/>
          <a:ln/>
        </p:spPr>
        <p:txBody>
          <a:bodyPr wrap="square" lIns="25400" tIns="38100" rIns="38100" bIns="2540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+ conditions</a:t>
            </a:r>
            <a:endParaRPr lang="en-US" sz="8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Properties, shelf life, storage, transport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198364" y="1783080"/>
            <a:ext cx="132588" cy="182880"/>
          </a:xfrm>
          <a:prstGeom prst="rightArrow">
            <a:avLst/>
          </a:prstGeom>
          <a:solidFill>
            <a:srgbClr val="F8C98B"/>
          </a:solidFill>
          <a:ln w="6350">
            <a:solidFill>
              <a:srgbClr val="C9863B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5330952" y="1097280"/>
            <a:ext cx="804672" cy="1600200"/>
          </a:xfrm>
          <a:prstGeom prst="roundRect">
            <a:avLst>
              <a:gd name="adj" fmla="val 6818"/>
            </a:avLst>
          </a:prstGeom>
          <a:solidFill>
            <a:srgbClr val="EEF5FC"/>
          </a:solidFill>
          <a:ln w="9525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5596128" y="1161288"/>
            <a:ext cx="274320" cy="274320"/>
          </a:xfrm>
          <a:prstGeom prst="ellipse">
            <a:avLst/>
          </a:prstGeom>
          <a:solidFill>
            <a:srgbClr val="8B2A1E"/>
          </a:solidFill>
          <a:ln w="12700">
            <a:solidFill>
              <a:srgbClr val="8B2A1E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5596128" y="1161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5330952" y="1463040"/>
            <a:ext cx="804672" cy="1207008"/>
          </a:xfrm>
          <a:prstGeom prst="rect">
            <a:avLst/>
          </a:prstGeom>
          <a:noFill/>
          <a:ln/>
        </p:spPr>
        <p:txBody>
          <a:bodyPr wrap="square" lIns="25400" tIns="38100" rIns="38100" bIns="2540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engine</a:t>
            </a:r>
            <a:endParaRPr lang="en-US" sz="8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damage this food? Filter unsuitable films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6140196" y="1783080"/>
            <a:ext cx="132588" cy="182880"/>
          </a:xfrm>
          <a:prstGeom prst="rightArrow">
            <a:avLst/>
          </a:prstGeom>
          <a:solidFill>
            <a:srgbClr val="F8C98B"/>
          </a:solidFill>
          <a:ln w="6350">
            <a:solidFill>
              <a:srgbClr val="C9863B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6272784" y="1097280"/>
            <a:ext cx="804672" cy="1600200"/>
          </a:xfrm>
          <a:prstGeom prst="roundRect">
            <a:avLst>
              <a:gd name="adj" fmla="val 6818"/>
            </a:avLst>
          </a:prstGeom>
          <a:solidFill>
            <a:srgbClr val="FFF5E8"/>
          </a:solidFill>
          <a:ln w="9525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6537960" y="1161288"/>
            <a:ext cx="274320" cy="274320"/>
          </a:xfrm>
          <a:prstGeom prst="ellipse">
            <a:avLst/>
          </a:prstGeom>
          <a:solidFill>
            <a:srgbClr val="8B2A1E"/>
          </a:solidFill>
          <a:ln w="12700">
            <a:solidFill>
              <a:srgbClr val="8B2A1E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 txBox="1"/>
          <p:nvPr/>
        </p:nvSpPr>
        <p:spPr>
          <a:xfrm>
            <a:off x="6537960" y="1161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6272784" y="1463040"/>
            <a:ext cx="804672" cy="1207008"/>
          </a:xfrm>
          <a:prstGeom prst="rect">
            <a:avLst/>
          </a:prstGeom>
          <a:noFill/>
          <a:ln/>
        </p:spPr>
        <p:txBody>
          <a:bodyPr wrap="square" lIns="25400" tIns="38100" rIns="38100" bIns="2540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simulator</a:t>
            </a:r>
            <a:endParaRPr lang="en-US" sz="8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gas balance, moisture gain, Q10; stress test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7082028" y="1783080"/>
            <a:ext cx="132588" cy="182880"/>
          </a:xfrm>
          <a:prstGeom prst="rightArrow">
            <a:avLst/>
          </a:prstGeom>
          <a:solidFill>
            <a:srgbClr val="F8C98B"/>
          </a:solidFill>
          <a:ln w="6350">
            <a:solidFill>
              <a:srgbClr val="C9863B"/>
            </a:solidFill>
            <a:prstDash val="solid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7214616" y="1097280"/>
            <a:ext cx="804672" cy="1600200"/>
          </a:xfrm>
          <a:prstGeom prst="roundRect">
            <a:avLst>
              <a:gd name="adj" fmla="val 6818"/>
            </a:avLst>
          </a:prstGeom>
          <a:solidFill>
            <a:srgbClr val="EEF5FC"/>
          </a:solidFill>
          <a:ln w="9525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7479792" y="1161288"/>
            <a:ext cx="274320" cy="274320"/>
          </a:xfrm>
          <a:prstGeom prst="ellipse">
            <a:avLst/>
          </a:prstGeom>
          <a:solidFill>
            <a:srgbClr val="8B2A1E"/>
          </a:solidFill>
          <a:ln w="12700">
            <a:solidFill>
              <a:srgbClr val="8B2A1E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 txBox="1"/>
          <p:nvPr/>
        </p:nvSpPr>
        <p:spPr>
          <a:xfrm>
            <a:off x="7479792" y="1161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7214616" y="1463040"/>
            <a:ext cx="804672" cy="1207008"/>
          </a:xfrm>
          <a:prstGeom prst="rect">
            <a:avLst/>
          </a:prstGeom>
          <a:noFill/>
          <a:ln/>
        </p:spPr>
        <p:txBody>
          <a:bodyPr wrap="square" lIns="25400" tIns="38100" rIns="38100" bIns="2540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8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on fit, cost, sustainability (Pareto)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8023860" y="1783080"/>
            <a:ext cx="132588" cy="182880"/>
          </a:xfrm>
          <a:prstGeom prst="rightArrow">
            <a:avLst/>
          </a:prstGeom>
          <a:solidFill>
            <a:srgbClr val="F8C98B"/>
          </a:solidFill>
          <a:ln w="6350">
            <a:solidFill>
              <a:srgbClr val="C9863B"/>
            </a:solidFill>
            <a:prstDash val="solid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8156448" y="1097280"/>
            <a:ext cx="804672" cy="1600200"/>
          </a:xfrm>
          <a:prstGeom prst="roundRect">
            <a:avLst>
              <a:gd name="adj" fmla="val 6818"/>
            </a:avLst>
          </a:prstGeom>
          <a:solidFill>
            <a:srgbClr val="FFF5E8"/>
          </a:solidFill>
          <a:ln w="9525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8421624" y="1161288"/>
            <a:ext cx="274320" cy="274320"/>
          </a:xfrm>
          <a:prstGeom prst="ellipse">
            <a:avLst/>
          </a:prstGeom>
          <a:solidFill>
            <a:srgbClr val="8B2A1E"/>
          </a:solidFill>
          <a:ln w="12700">
            <a:solidFill>
              <a:srgbClr val="8B2A1E"/>
            </a:solidFill>
            <a:prstDash val="solid"/>
          </a:ln>
        </p:spPr>
        <p:txBody>
          <a:bodyPr/>
          <a:p/>
        </p:txBody>
      </p:sp>
      <p:sp>
        <p:nvSpPr>
          <p:cNvPr id="35" name="Text 32"/>
          <p:cNvSpPr txBox="1"/>
          <p:nvPr/>
        </p:nvSpPr>
        <p:spPr>
          <a:xfrm>
            <a:off x="8421624" y="1161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8156448" y="1463040"/>
            <a:ext cx="804672" cy="1207008"/>
          </a:xfrm>
          <a:prstGeom prst="rect">
            <a:avLst/>
          </a:prstGeom>
          <a:noFill/>
          <a:ln/>
        </p:spPr>
        <p:txBody>
          <a:bodyPr wrap="square" lIns="25400" tIns="38100" rIns="38100" bIns="2540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output</a:t>
            </a:r>
            <a:endParaRPr lang="en-US" sz="8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Material, specs, alternatives, why, QR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4389120" y="2788920"/>
            <a:ext cx="45720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C9863B"/>
            </a:solidFill>
            <a:prstDash val="solid"/>
          </a:ln>
        </p:spPr>
        <p:txBody>
          <a:bodyPr/>
          <a:p/>
        </p:txBody>
      </p:sp>
      <p:sp>
        <p:nvSpPr>
          <p:cNvPr id="38" name="Text 35"/>
          <p:cNvSpPr txBox="1"/>
          <p:nvPr/>
        </p:nvSpPr>
        <p:spPr>
          <a:xfrm>
            <a:off x="4389120" y="2788920"/>
            <a:ext cx="4572000" cy="56692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</a:t>
            </a:r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potato chips, ambient, 6 months → high O₂, moisture and light barrier → computed OTR/WVTR limits → metalized PET/PE laminate, N₂-flush MAP, plus cheaper and greener alternatives.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389120" y="3566160"/>
            <a:ext cx="4572000" cy="1280160"/>
          </a:xfrm>
          <a:prstGeom prst="roundRect">
            <a:avLst>
              <a:gd name="adj" fmla="val 7143"/>
            </a:avLst>
          </a:prstGeom>
          <a:solidFill>
            <a:srgbClr val="FFF5E8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40" name="Text 37"/>
          <p:cNvSpPr txBox="1"/>
          <p:nvPr/>
        </p:nvSpPr>
        <p:spPr>
          <a:xfrm>
            <a:off x="4434840" y="3657600"/>
            <a:ext cx="4480560" cy="1188720"/>
          </a:xfrm>
          <a:prstGeom prst="rect">
            <a:avLst/>
          </a:prstGeom>
          <a:noFill/>
          <a:ln/>
        </p:spPr>
        <p:txBody>
          <a:bodyPr wrap="square" lIns="38100" tIns="76200" rIns="76200" bIns="38100" rtlCol="0" anchor="t"/>
          <a:lstStyle/>
          <a:p>
            <a:pPr marL="342900" indent="-342900">
              <a:spcAft>
                <a:spcPts val="300"/>
              </a:spcAft>
              <a:buSzPct val="100000"/>
              <a:buChar char="►"/>
            </a:pPr>
            <a:r>
              <a:rPr lang="en-US" sz="85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Physics-informed: </a:t>
            </a:r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the required OTR/WVTR instead of guessing (MAP equilibrium, Labuza moisture gain, Q10).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►"/>
            </a:pPr>
            <a:r>
              <a:rPr lang="en-US" sz="85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digital twin: </a:t>
            </a:r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supply-chain stress test gives the probability the food survives its shelf life.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►"/>
            </a:pPr>
            <a:r>
              <a:rPr lang="en-US" sz="85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Right-sizing + traceable data: </a:t>
            </a:r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options (best / cheapest / greenest); every number carries source, confidence or a “data gap” flag.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457200" y="777240"/>
            <a:ext cx="2011680" cy="246888"/>
          </a:xfrm>
          <a:prstGeom prst="roundRect">
            <a:avLst>
              <a:gd name="adj" fmla="val 48148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42" name="Text 39"/>
          <p:cNvSpPr txBox="1"/>
          <p:nvPr/>
        </p:nvSpPr>
        <p:spPr>
          <a:xfrm>
            <a:off x="457200" y="777240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SOLUTION: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320040" y="2761488"/>
            <a:ext cx="3108960" cy="246888"/>
          </a:xfrm>
          <a:prstGeom prst="roundRect">
            <a:avLst>
              <a:gd name="adj" fmla="val 48148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44" name="Text 41"/>
          <p:cNvSpPr txBox="1"/>
          <p:nvPr/>
        </p:nvSpPr>
        <p:spPr>
          <a:xfrm>
            <a:off x="320040" y="2761488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ADDRESSES THE PROBLEM :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5212080" y="777240"/>
            <a:ext cx="2103120" cy="246888"/>
          </a:xfrm>
          <a:prstGeom prst="roundRect">
            <a:avLst>
              <a:gd name="adj" fmla="val 48148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46" name="Text 43"/>
          <p:cNvSpPr txBox="1"/>
          <p:nvPr/>
        </p:nvSpPr>
        <p:spPr>
          <a:xfrm>
            <a:off x="5212080" y="777240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DIAGRAM: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4617720" y="3438144"/>
            <a:ext cx="4114800" cy="246888"/>
          </a:xfrm>
          <a:prstGeom prst="roundRect">
            <a:avLst>
              <a:gd name="adj" fmla="val 48148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48" name="Text 45"/>
          <p:cNvSpPr txBox="1"/>
          <p:nvPr/>
        </p:nvSpPr>
        <p:spPr>
          <a:xfrm>
            <a:off x="4617720" y="3438144"/>
            <a:ext cx="4114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AND UNIQUENESS OF THE SOLUTION :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91440"/>
            <a:ext cx="100584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A5FA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13716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Kalpataru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45720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</a:t>
            </a:r>
            <a:endParaRPr lang="en-US" sz="2200" dirty="0"/>
          </a:p>
        </p:txBody>
      </p:sp>
      <p:pic>
        <p:nvPicPr>
          <p:cNvPr id="5" name="Image 0" descr="img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54864"/>
            <a:ext cx="1325880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8595360" y="4937760"/>
            <a:ext cx="457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37160" y="987552"/>
            <a:ext cx="3931920" cy="493776"/>
          </a:xfrm>
          <a:prstGeom prst="roundRect">
            <a:avLst>
              <a:gd name="adj" fmla="val 18519"/>
            </a:avLst>
          </a:prstGeom>
          <a:solidFill>
            <a:srgbClr val="FFF5E8"/>
          </a:solidFill>
          <a:ln w="12700">
            <a:solidFill>
              <a:srgbClr val="AAAAAA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182880" y="987552"/>
            <a:ext cx="3840480" cy="493776"/>
          </a:xfrm>
          <a:prstGeom prst="rect">
            <a:avLst/>
          </a:prstGeom>
          <a:noFill/>
          <a:ln/>
        </p:spPr>
        <p:txBody>
          <a:bodyPr wrap="square" lIns="12700" tIns="63500" rIns="63500" bIns="12700" rtlCol="0" anchor="ctr"/>
          <a:lstStyle/>
          <a:p>
            <a:r>
              <a:t>Frontend: Next.js 16 (React) with Glassmorphic UI; Vernacular search (Hindi / regional aliases); Mobile-first responsive</a:t>
            </a:r>
          </a:p>
        </p:txBody>
      </p:sp>
      <p:sp>
        <p:nvSpPr>
          <p:cNvPr id="10" name="Shape 7"/>
          <p:cNvSpPr/>
          <p:nvPr/>
        </p:nvSpPr>
        <p:spPr>
          <a:xfrm>
            <a:off x="137160" y="1536192"/>
            <a:ext cx="3931920" cy="493776"/>
          </a:xfrm>
          <a:prstGeom prst="roundRect">
            <a:avLst>
              <a:gd name="adj" fmla="val 18519"/>
            </a:avLst>
          </a:prstGeom>
          <a:solidFill>
            <a:srgbClr val="EEF5FC"/>
          </a:solidFill>
          <a:ln w="12700">
            <a:solidFill>
              <a:srgbClr val="AAAAAA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182880" y="1536192"/>
            <a:ext cx="3840480" cy="493776"/>
          </a:xfrm>
          <a:prstGeom prst="rect">
            <a:avLst/>
          </a:prstGeom>
          <a:noFill/>
          <a:ln/>
        </p:spPr>
        <p:txBody>
          <a:bodyPr wrap="square" lIns="12700" tIns="63500" rIns="63500" bIns="12700" rtlCol="0" anchor="ctr"/>
          <a:lstStyle/>
          <a:p>
            <a:r>
              <a:t>Backend / API: FastAPI (Python 3.11+), Pydantic v2 validation, Uvicorn high-throughput ASGI server</a:t>
            </a:r>
          </a:p>
        </p:txBody>
      </p:sp>
      <p:sp>
        <p:nvSpPr>
          <p:cNvPr id="12" name="Shape 9"/>
          <p:cNvSpPr/>
          <p:nvPr/>
        </p:nvSpPr>
        <p:spPr>
          <a:xfrm>
            <a:off x="137160" y="2084832"/>
            <a:ext cx="3931920" cy="493776"/>
          </a:xfrm>
          <a:prstGeom prst="roundRect">
            <a:avLst>
              <a:gd name="adj" fmla="val 18519"/>
            </a:avLst>
          </a:prstGeom>
          <a:solidFill>
            <a:srgbClr val="FFF5E8"/>
          </a:solidFill>
          <a:ln w="12700">
            <a:solidFill>
              <a:srgbClr val="AAAAA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182880" y="2084832"/>
            <a:ext cx="3840480" cy="493776"/>
          </a:xfrm>
          <a:prstGeom prst="rect">
            <a:avLst/>
          </a:prstGeom>
          <a:noFill/>
          <a:ln/>
        </p:spPr>
        <p:txBody>
          <a:bodyPr wrap="square" lIns="12700" tIns="63500" rIns="63500" bIns="127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engine: </a:t>
            </a:r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 (ODE) for MAP gas balance; Labuza moisture-gain model; Q10 / Arrhenius temperature correction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137160" y="2633472"/>
            <a:ext cx="3931920" cy="493776"/>
          </a:xfrm>
          <a:prstGeom prst="roundRect">
            <a:avLst>
              <a:gd name="adj" fmla="val 18519"/>
            </a:avLst>
          </a:prstGeom>
          <a:solidFill>
            <a:srgbClr val="EEF5FC"/>
          </a:solidFill>
          <a:ln w="12700">
            <a:solidFill>
              <a:srgbClr val="AAAAAA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182880" y="2633472"/>
            <a:ext cx="3840480" cy="493776"/>
          </a:xfrm>
          <a:prstGeom prst="rect">
            <a:avLst/>
          </a:prstGeom>
          <a:noFill/>
          <a:ln/>
        </p:spPr>
        <p:txBody>
          <a:bodyPr wrap="square" lIns="12700" tIns="63500" rIns="63500" bIns="127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ranker: </a:t>
            </a:r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/ XGBoost and similarity search on the normalized material dataset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137160" y="3182112"/>
            <a:ext cx="3931920" cy="493776"/>
          </a:xfrm>
          <a:prstGeom prst="roundRect">
            <a:avLst>
              <a:gd name="adj" fmla="val 18519"/>
            </a:avLst>
          </a:prstGeom>
          <a:solidFill>
            <a:srgbClr val="FFF5E8"/>
          </a:solidFill>
          <a:ln w="12700">
            <a:solidFill>
              <a:srgbClr val="AAAAAA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182880" y="3182112"/>
            <a:ext cx="3840480" cy="493776"/>
          </a:xfrm>
          <a:prstGeom prst="rect">
            <a:avLst/>
          </a:prstGeom>
          <a:noFill/>
          <a:ln/>
        </p:spPr>
        <p:txBody>
          <a:bodyPr wrap="square" lIns="12700" tIns="63500" rIns="63500" bIns="127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 </a:t>
            </a:r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NSGA-II or weighted Pareto over technical fit, cost, CO₂ footprint and recyclability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137160" y="3730752"/>
            <a:ext cx="3931920" cy="493776"/>
          </a:xfrm>
          <a:prstGeom prst="roundRect">
            <a:avLst>
              <a:gd name="adj" fmla="val 18519"/>
            </a:avLst>
          </a:prstGeom>
          <a:solidFill>
            <a:srgbClr val="EEF5FC"/>
          </a:solidFill>
          <a:ln w="12700">
            <a:solidFill>
              <a:srgbClr val="AAAAA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182880" y="3730752"/>
            <a:ext cx="3840480" cy="493776"/>
          </a:xfrm>
          <a:prstGeom prst="rect">
            <a:avLst/>
          </a:prstGeom>
          <a:noFill/>
          <a:ln/>
        </p:spPr>
        <p:txBody>
          <a:bodyPr wrap="square" lIns="12700" tIns="63500" rIns="63500" bIns="127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</a:t>
            </a:r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/ SQLite: materials, foods, requirement mapping, each row with source, DOI and confidence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137160" y="4279392"/>
            <a:ext cx="3931920" cy="493776"/>
          </a:xfrm>
          <a:prstGeom prst="roundRect">
            <a:avLst>
              <a:gd name="adj" fmla="val 18519"/>
            </a:avLst>
          </a:prstGeom>
          <a:solidFill>
            <a:srgbClr val="FFF5E8"/>
          </a:solidFill>
          <a:ln w="12700">
            <a:solidFill>
              <a:srgbClr val="AAAAAA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182880" y="4279392"/>
            <a:ext cx="3840480" cy="493776"/>
          </a:xfrm>
          <a:prstGeom prst="rect">
            <a:avLst/>
          </a:prstGeom>
          <a:noFill/>
          <a:ln/>
        </p:spPr>
        <p:txBody>
          <a:bodyPr wrap="square" lIns="12700" tIns="63500" rIns="63500" bIns="12700" rtlCol="0" anchor="ctr"/>
          <a:lstStyle/>
          <a:p>
            <a:r>
              <a:t>Output / modules: Dynamic Pouch Costing &amp; MOQ Simulator, Digital Packaging Passport (DPP) with QR generation, Europe PMC Crawler</a:t>
            </a:r>
          </a:p>
        </p:txBody>
      </p:sp>
      <p:sp>
        <p:nvSpPr>
          <p:cNvPr id="22" name="Shape 19"/>
          <p:cNvSpPr/>
          <p:nvPr/>
        </p:nvSpPr>
        <p:spPr>
          <a:xfrm>
            <a:off x="4434840" y="987552"/>
            <a:ext cx="4480560" cy="365760"/>
          </a:xfrm>
          <a:prstGeom prst="roundRect">
            <a:avLst>
              <a:gd name="adj" fmla="val 15000"/>
            </a:avLst>
          </a:prstGeom>
          <a:solidFill>
            <a:srgbClr val="F8C98B"/>
          </a:solidFill>
          <a:ln w="9525">
            <a:solidFill>
              <a:srgbClr val="666666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 txBox="1"/>
          <p:nvPr/>
        </p:nvSpPr>
        <p:spPr>
          <a:xfrm>
            <a:off x="4434840" y="987552"/>
            <a:ext cx="44805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app (PWA, regional voice, offline queue)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6675120" y="1353312"/>
            <a:ext cx="0" cy="164592"/>
          </a:xfrm>
          <a:prstGeom prst="line">
            <a:avLst/>
          </a:prstGeom>
          <a:noFill/>
          <a:ln w="15875">
            <a:solidFill>
              <a:srgbClr val="444444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4434840" y="1517904"/>
            <a:ext cx="4480560" cy="329184"/>
          </a:xfrm>
          <a:prstGeom prst="roundRect">
            <a:avLst>
              <a:gd name="adj" fmla="val 16667"/>
            </a:avLst>
          </a:prstGeom>
          <a:solidFill>
            <a:srgbClr val="D9E8F7"/>
          </a:solidFill>
          <a:ln w="9525">
            <a:solidFill>
              <a:srgbClr val="666666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4434840" y="1517904"/>
            <a:ext cx="448056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gateway · validation · orchestration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675120" y="1847088"/>
            <a:ext cx="0" cy="164592"/>
          </a:xfrm>
          <a:prstGeom prst="line">
            <a:avLst/>
          </a:prstGeom>
          <a:noFill/>
          <a:ln w="15875">
            <a:solidFill>
              <a:srgbClr val="444444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4434840" y="201168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666666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 txBox="1"/>
          <p:nvPr/>
        </p:nvSpPr>
        <p:spPr>
          <a:xfrm>
            <a:off x="4434840" y="2011680"/>
            <a:ext cx="141732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/ constraint filter removes unsuitable films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5943600" y="2011680"/>
            <a:ext cx="1417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666666"/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 txBox="1"/>
          <p:nvPr/>
        </p:nvSpPr>
        <p:spPr>
          <a:xfrm>
            <a:off x="5943600" y="2011680"/>
            <a:ext cx="141732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simulator: MAP, moisture gain, Q10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7452360" y="2011680"/>
            <a:ext cx="14630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666666"/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 txBox="1"/>
          <p:nvPr/>
        </p:nvSpPr>
        <p:spPr>
          <a:xfrm>
            <a:off x="7452360" y="2011680"/>
            <a:ext cx="14630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test: Monte Carlo temperature abuse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6675120" y="2743200"/>
            <a:ext cx="0" cy="164592"/>
          </a:xfrm>
          <a:prstGeom prst="line">
            <a:avLst/>
          </a:prstGeom>
          <a:noFill/>
          <a:ln w="15875">
            <a:solidFill>
              <a:srgbClr val="444444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5" name="Shape 32"/>
          <p:cNvSpPr/>
          <p:nvPr/>
        </p:nvSpPr>
        <p:spPr>
          <a:xfrm>
            <a:off x="4434840" y="2907792"/>
            <a:ext cx="4480560" cy="384048"/>
          </a:xfrm>
          <a:prstGeom prst="roundRect">
            <a:avLst>
              <a:gd name="adj" fmla="val 14286"/>
            </a:avLst>
          </a:prstGeom>
          <a:solidFill>
            <a:srgbClr val="FFE3DC"/>
          </a:solidFill>
          <a:ln w="9525">
            <a:solidFill>
              <a:srgbClr val="666666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 txBox="1"/>
          <p:nvPr/>
        </p:nvSpPr>
        <p:spPr>
          <a:xfrm>
            <a:off x="4434840" y="2907792"/>
            <a:ext cx="44805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ranker + Pareto optimizer (fit · cost · sustainability)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6675120" y="3291840"/>
            <a:ext cx="0" cy="164592"/>
          </a:xfrm>
          <a:prstGeom prst="line">
            <a:avLst/>
          </a:prstGeom>
          <a:noFill/>
          <a:ln w="15875">
            <a:solidFill>
              <a:srgbClr val="444444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8" name="Shape 35"/>
          <p:cNvSpPr/>
          <p:nvPr/>
        </p:nvSpPr>
        <p:spPr>
          <a:xfrm>
            <a:off x="4434840" y="3456432"/>
            <a:ext cx="2194560" cy="502920"/>
          </a:xfrm>
          <a:prstGeom prst="roundRect">
            <a:avLst>
              <a:gd name="adj" fmla="val 10909"/>
            </a:avLst>
          </a:prstGeom>
          <a:solidFill>
            <a:srgbClr val="D9E8F7"/>
          </a:solidFill>
          <a:ln w="9525">
            <a:solidFill>
              <a:srgbClr val="666666"/>
            </a:solidFill>
            <a:prstDash val="solid"/>
          </a:ln>
        </p:spPr>
        <p:txBody>
          <a:bodyPr/>
          <a:p/>
        </p:txBody>
      </p:sp>
      <p:sp>
        <p:nvSpPr>
          <p:cNvPr id="39" name="Text 36"/>
          <p:cNvSpPr txBox="1"/>
          <p:nvPr/>
        </p:nvSpPr>
        <p:spPr>
          <a:xfrm>
            <a:off x="4434840" y="3456432"/>
            <a:ext cx="21945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A / B / C (materials, foods, requirements)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6720840" y="3456432"/>
            <a:ext cx="2194560" cy="502920"/>
          </a:xfrm>
          <a:prstGeom prst="roundRect">
            <a:avLst>
              <a:gd name="adj" fmla="val 10909"/>
            </a:avLst>
          </a:prstGeom>
          <a:solidFill>
            <a:srgbClr val="D9E8F7"/>
          </a:solidFill>
          <a:ln w="9525">
            <a:solidFill>
              <a:srgbClr val="666666"/>
            </a:solidFill>
            <a:prstDash val="solid"/>
          </a:ln>
        </p:spPr>
        <p:txBody>
          <a:bodyPr/>
          <a:p/>
        </p:txBody>
      </p:sp>
      <p:sp>
        <p:nvSpPr>
          <p:cNvPr id="41" name="Text 38"/>
          <p:cNvSpPr txBox="1"/>
          <p:nvPr/>
        </p:nvSpPr>
        <p:spPr>
          <a:xfrm>
            <a:off x="6720840" y="3456432"/>
            <a:ext cx="21945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+ RAG: source, confidence, data gap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6675120" y="3959352"/>
            <a:ext cx="0" cy="164592"/>
          </a:xfrm>
          <a:prstGeom prst="line">
            <a:avLst/>
          </a:prstGeom>
          <a:noFill/>
          <a:ln w="15875">
            <a:solidFill>
              <a:srgbClr val="444444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3" name="Shape 40"/>
          <p:cNvSpPr/>
          <p:nvPr/>
        </p:nvSpPr>
        <p:spPr>
          <a:xfrm>
            <a:off x="4434840" y="4123944"/>
            <a:ext cx="44805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666666"/>
            </a:solidFill>
            <a:prstDash val="solid"/>
          </a:ln>
        </p:spPr>
        <p:txBody>
          <a:bodyPr/>
          <a:p/>
        </p:txBody>
      </p:sp>
      <p:sp>
        <p:nvSpPr>
          <p:cNvPr id="44" name="Text 41"/>
          <p:cNvSpPr txBox="1"/>
          <p:nvPr/>
        </p:nvSpPr>
        <p:spPr>
          <a:xfrm>
            <a:off x="4434840" y="4123944"/>
            <a:ext cx="44805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PDF spec sheet · QR passport · optional ESP32 pack validation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137160" y="685800"/>
            <a:ext cx="1463040" cy="246888"/>
          </a:xfrm>
          <a:prstGeom prst="roundRect">
            <a:avLst>
              <a:gd name="adj" fmla="val 48148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46" name="Text 43"/>
          <p:cNvSpPr txBox="1"/>
          <p:nvPr/>
        </p:nvSpPr>
        <p:spPr>
          <a:xfrm>
            <a:off x="137160" y="685800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5669280" y="685800"/>
            <a:ext cx="2560320" cy="246888"/>
          </a:xfrm>
          <a:prstGeom prst="roundRect">
            <a:avLst>
              <a:gd name="adj" fmla="val 48148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48" name="Text 45"/>
          <p:cNvSpPr txBox="1"/>
          <p:nvPr/>
        </p:nvSpPr>
        <p:spPr>
          <a:xfrm>
            <a:off x="5669280" y="68580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 :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91440"/>
            <a:ext cx="100584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A5FA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13716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Kalpataru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45720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AND VIABILITY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41148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7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PHYSICS-BACKED • EVIDENCE-GROUNDED • MODULAR SCALE</a:t>
            </a:r>
            <a:endParaRPr lang="en-US" sz="1200" dirty="0"/>
          </a:p>
        </p:txBody>
      </p:sp>
      <p:pic>
        <p:nvPicPr>
          <p:cNvPr id="6" name="Image 0" descr="img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54864"/>
            <a:ext cx="1325880" cy="5669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8595360" y="4937760"/>
            <a:ext cx="457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37160" y="77724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EEF5FC"/>
          </a:solidFill>
          <a:ln w="12700">
            <a:solidFill>
              <a:srgbClr val="666666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137160" y="777240"/>
            <a:ext cx="1371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FEASIBILITY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137160" y="1280160"/>
            <a:ext cx="1371600" cy="1463040"/>
          </a:xfrm>
          <a:prstGeom prst="roundRect">
            <a:avLst>
              <a:gd name="adj" fmla="val 6667"/>
            </a:avLst>
          </a:prstGeom>
          <a:solidFill>
            <a:srgbClr val="FFF5E8"/>
          </a:solidFill>
          <a:ln w="12700">
            <a:solidFill>
              <a:srgbClr val="666666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137160" y="1280160"/>
            <a:ext cx="1371600" cy="14630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established food-packaging science (MAP modelling, Labuza shelf life) with open-source Python tools; ML only ranks options.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1554480" y="77724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EEF5FC"/>
          </a:solidFill>
          <a:ln w="12700">
            <a:solidFill>
              <a:srgbClr val="666666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1554480" y="777240"/>
            <a:ext cx="1371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FEASIBILITY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1554480" y="1280160"/>
            <a:ext cx="1371600" cy="1463040"/>
          </a:xfrm>
          <a:prstGeom prst="roundRect">
            <a:avLst>
              <a:gd name="adj" fmla="val 6667"/>
            </a:avLst>
          </a:prstGeom>
          <a:solidFill>
            <a:srgbClr val="FFF5E8"/>
          </a:solidFill>
          <a:ln w="12700">
            <a:solidFill>
              <a:srgbClr val="666666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1554480" y="1280160"/>
            <a:ext cx="1371600" cy="14630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datasets and open-source stack keep build and hosting cost low; no special hardware needed for users.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2971800" y="77724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EEF5FC"/>
          </a:solidFill>
          <a:ln w="12700">
            <a:solidFill>
              <a:srgbClr val="666666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2971800" y="777240"/>
            <a:ext cx="1371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VIABILITY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2971800" y="1280160"/>
            <a:ext cx="1371600" cy="1463040"/>
          </a:xfrm>
          <a:prstGeom prst="roundRect">
            <a:avLst>
              <a:gd name="adj" fmla="val 6667"/>
            </a:avLst>
          </a:prstGeom>
          <a:solidFill>
            <a:srgbClr val="FFF5E8"/>
          </a:solidFill>
          <a:ln w="12700">
            <a:solidFill>
              <a:srgbClr val="666666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2971800" y="1280160"/>
            <a:ext cx="1371600" cy="14630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form or voice in Hindi/Marathi; plain-language “why” lets non-experts trust and act on the result.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137160" y="283464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EEF5FC"/>
          </a:solidFill>
          <a:ln w="12700">
            <a:solidFill>
              <a:srgbClr val="666666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137160" y="2834640"/>
            <a:ext cx="1371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FEASIBILITY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137160" y="3337560"/>
            <a:ext cx="1371600" cy="1463040"/>
          </a:xfrm>
          <a:prstGeom prst="roundRect">
            <a:avLst>
              <a:gd name="adj" fmla="val 6667"/>
            </a:avLst>
          </a:prstGeom>
          <a:solidFill>
            <a:srgbClr val="FFF5E8"/>
          </a:solidFill>
          <a:ln w="12700">
            <a:solidFill>
              <a:srgbClr val="666666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 txBox="1"/>
          <p:nvPr/>
        </p:nvSpPr>
        <p:spPr>
          <a:xfrm>
            <a:off x="137160" y="3337560"/>
            <a:ext cx="1371600" cy="14630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with 20–30 commodities; experts from NIFTEM/CFTRI-type institutes can validate the requirement tables.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1554480" y="283464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EEF5FC"/>
          </a:solidFill>
          <a:ln w="12700">
            <a:solidFill>
              <a:srgbClr val="666666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1554480" y="2834640"/>
            <a:ext cx="1371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1554480" y="3337560"/>
            <a:ext cx="1371600" cy="1463040"/>
          </a:xfrm>
          <a:prstGeom prst="roundRect">
            <a:avLst>
              <a:gd name="adj" fmla="val 6667"/>
            </a:avLst>
          </a:prstGeom>
          <a:solidFill>
            <a:srgbClr val="FFF5E8"/>
          </a:solidFill>
          <a:ln w="12700">
            <a:solidFill>
              <a:srgbClr val="666666"/>
            </a:solidFill>
            <a:prstDash val="solid"/>
          </a:ln>
        </p:spPr>
        <p:txBody>
          <a:bodyPr/>
          <a:p/>
        </p:txBody>
      </p:sp>
      <p:sp>
        <p:nvSpPr>
          <p:cNvPr id="28" name="Text 25"/>
          <p:cNvSpPr txBox="1"/>
          <p:nvPr/>
        </p:nvSpPr>
        <p:spPr>
          <a:xfrm>
            <a:off x="1554480" y="3337560"/>
            <a:ext cx="1371600" cy="14630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foods, films and languages as data rows; modular services and an API serve FPOs and cold-chain firms.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971800" y="283464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EEF5FC"/>
          </a:solidFill>
          <a:ln w="12700">
            <a:solidFill>
              <a:srgbClr val="666666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 txBox="1"/>
          <p:nvPr/>
        </p:nvSpPr>
        <p:spPr>
          <a:xfrm>
            <a:off x="2971800" y="2834640"/>
            <a:ext cx="1371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VIABILITY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2971800" y="3337560"/>
            <a:ext cx="1371600" cy="1463040"/>
          </a:xfrm>
          <a:prstGeom prst="roundRect">
            <a:avLst>
              <a:gd name="adj" fmla="val 6667"/>
            </a:avLst>
          </a:prstGeom>
          <a:solidFill>
            <a:srgbClr val="FFF5E8"/>
          </a:solidFill>
          <a:ln w="12700">
            <a:solidFill>
              <a:srgbClr val="666666"/>
            </a:solidFill>
            <a:prstDash val="solid"/>
          </a:ln>
        </p:spPr>
        <p:txBody>
          <a:bodyPr/>
          <a:p/>
        </p:txBody>
      </p:sp>
      <p:sp>
        <p:nvSpPr>
          <p:cNvPr id="32" name="Text 29"/>
          <p:cNvSpPr txBox="1"/>
          <p:nvPr/>
        </p:nvSpPr>
        <p:spPr>
          <a:xfrm>
            <a:off x="2971800" y="3337560"/>
            <a:ext cx="1371600" cy="14630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for farmers; subscriptions and API access for MSMEs and industry (see Impact slide).</a:t>
            </a:r>
            <a:endParaRPr lang="en-US" sz="8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26280" y="777240"/>
          <a:ext cx="44348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310896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Credible packaging dataset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Tiered sources (Food-Pack-Mapper, CIRAD, NIFTEM-T, CFTRI, FAO); confidence tag and DOI on every row.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ground truth for ML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Requirements come from physics; ML is used only for ranking and similarity.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 units and test conditions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Normalize OTR/WVTR units, temperature and RH before use; never mix raw values.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data for new foods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a “data gap” flag instead of guessing; route to expert review.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26280" y="3108960"/>
          <a:ext cx="443484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600200"/>
                <a:gridCol w="1691640"/>
              </a:tblGrid>
              <a:tr h="2011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inputs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 gas balance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OTR, micro-perforation, gas mix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Respiration rate, mass, area, target O₂/CO₂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Labuza moisture gain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Maximum allowed WVTR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Initial, critical, equilibrium moisture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Q10 / Arrhenius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 correction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 and transport profile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Monte Carlo stress test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Survival probability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Temperature-abuse scenarios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Pareto optimizer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/ cheapest / greenest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Fit, cost, CO₂, recyclability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91440"/>
            <a:ext cx="100584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A5FA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13716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Kalpataru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45720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AND BENEFITS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411480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7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food waste • lower packaging cost • less plastic</a:t>
            </a:r>
            <a:endParaRPr lang="en-US" sz="1200" dirty="0"/>
          </a:p>
        </p:txBody>
      </p:sp>
      <p:pic>
        <p:nvPicPr>
          <p:cNvPr id="6" name="Image 0" descr="img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54864"/>
            <a:ext cx="1325880" cy="5669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8595360" y="4937760"/>
            <a:ext cx="457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37160" y="1024128"/>
            <a:ext cx="2011680" cy="804672"/>
          </a:xfrm>
          <a:prstGeom prst="roundRect">
            <a:avLst>
              <a:gd name="adj" fmla="val 11364"/>
            </a:avLst>
          </a:prstGeom>
          <a:solidFill>
            <a:srgbClr val="EEF5FC"/>
          </a:solidFill>
          <a:ln w="12700">
            <a:solidFill>
              <a:srgbClr val="666666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137160" y="1024128"/>
            <a:ext cx="2011680" cy="8046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post-harvest packaging means less spoilage and better prices.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212848" y="1024128"/>
            <a:ext cx="2011680" cy="804672"/>
          </a:xfrm>
          <a:prstGeom prst="roundRect">
            <a:avLst>
              <a:gd name="adj" fmla="val 11364"/>
            </a:avLst>
          </a:prstGeom>
          <a:solidFill>
            <a:srgbClr val="EEF5FC"/>
          </a:solidFill>
          <a:ln w="12700">
            <a:solidFill>
              <a:srgbClr val="666666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2212848" y="1024128"/>
            <a:ext cx="2011680" cy="8046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MSMEs &amp; startups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expert fees or trial-and-error cost for new products.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137160" y="1892808"/>
            <a:ext cx="2011680" cy="804672"/>
          </a:xfrm>
          <a:prstGeom prst="roundRect">
            <a:avLst>
              <a:gd name="adj" fmla="val 11364"/>
            </a:avLst>
          </a:prstGeom>
          <a:solidFill>
            <a:srgbClr val="EEF5FC"/>
          </a:solidFill>
          <a:ln w="12700">
            <a:solidFill>
              <a:srgbClr val="666666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137160" y="1892808"/>
            <a:ext cx="2011680" cy="8046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industry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Right-sized packaging cuts cost, plastic and rejected batches.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2212848" y="1892808"/>
            <a:ext cx="2011680" cy="804672"/>
          </a:xfrm>
          <a:prstGeom prst="roundRect">
            <a:avLst>
              <a:gd name="adj" fmla="val 11364"/>
            </a:avLst>
          </a:prstGeom>
          <a:solidFill>
            <a:srgbClr val="EEF5FC"/>
          </a:solidFill>
          <a:ln w="12700">
            <a:solidFill>
              <a:srgbClr val="666666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2212848" y="1892808"/>
            <a:ext cx="2011680" cy="8046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Recyclable options and less over-packaging lower plastic and CO₂.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137160" y="2907792"/>
            <a:ext cx="4087368" cy="1938528"/>
          </a:xfrm>
          <a:prstGeom prst="roundRect">
            <a:avLst>
              <a:gd name="adj" fmla="val 4717"/>
            </a:avLst>
          </a:prstGeom>
          <a:solidFill>
            <a:srgbClr val="FFF5E8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182880" y="3127248"/>
            <a:ext cx="4023360" cy="1691640"/>
          </a:xfrm>
          <a:prstGeom prst="rect">
            <a:avLst/>
          </a:prstGeom>
          <a:noFill/>
          <a:ln/>
        </p:spPr>
        <p:txBody>
          <a:bodyPr wrap="square" lIns="38100" tIns="76200" rIns="76200" bIns="3810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tier: </a:t>
            </a:r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farmers, FPOs and students get core recommendations at no cost.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plans: </a:t>
            </a:r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MSMEs and manufacturers pay for saved projects, stress tests and PDF spec sheets.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access: </a:t>
            </a:r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cold-chain firms, FPOs and government portals integrate PackPulse.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leads: </a:t>
            </a:r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film suppliers pay for qualified enquiries, kept separate from ranking.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Partnerships: </a:t>
            </a:r>
            <a:pPr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MoFPI, NIFTEM and CSR grants for rural onboarding.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0" y="777240"/>
          <a:ext cx="45720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108960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Benefits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delivered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 advice for everyone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Food properties in, packaging decision out, no consultant needed.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specifications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OTR, WVTR, thickness, sealability, strength, MAP suitability.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Fresh-produce intelligence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Respiration-aware breathable / micro-perforated film and gas mix.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optimization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film within the user’s per-pack budget.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Sustainability analysis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Recyclable and eco-friendly alternatives with footprint score.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Shelf-life and risk prediction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Survival probability across the real supply chain.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QR traceability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 spec, storage advice and recycling instructions in one QR.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4389120" y="3529584"/>
            <a:ext cx="4572000" cy="1316736"/>
          </a:xfrm>
          <a:prstGeom prst="roundRect">
            <a:avLst>
              <a:gd name="adj" fmla="val 6944"/>
            </a:avLst>
          </a:prstGeom>
          <a:solidFill>
            <a:srgbClr val="EEF5FC"/>
          </a:solidFill>
          <a:ln w="12700">
            <a:solidFill>
              <a:srgbClr val="666666"/>
            </a:solidFill>
            <a:prstDash val="solid"/>
          </a:ln>
        </p:spPr>
        <p:txBody>
          <a:bodyPr/>
          <a:p/>
        </p:txBody>
      </p:sp>
      <p:sp>
        <p:nvSpPr>
          <p:cNvPr id="21" name="Text 17"/>
          <p:cNvSpPr txBox="1"/>
          <p:nvPr/>
        </p:nvSpPr>
        <p:spPr>
          <a:xfrm>
            <a:off x="4434840" y="3584448"/>
            <a:ext cx="4480560" cy="1234440"/>
          </a:xfrm>
          <a:prstGeom prst="rect">
            <a:avLst/>
          </a:prstGeom>
          <a:noFill/>
          <a:ln/>
        </p:spPr>
        <p:txBody>
          <a:bodyPr wrap="square" lIns="38100" tIns="76200" rIns="76200" bIns="3810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Pack Validator: low-cost ESP32 O₂/CO₂/RH sensor to compare real and simulated gas curves and recalibrate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Regional-language voice / WhatsApp copilot for farmers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marketplace and API for FPOs, cold-chain firms and government portals</a:t>
            </a:r>
            <a:endParaRPr lang="en-US" sz="8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beyond 30 commodities as verified data grows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274320" y="731520"/>
            <a:ext cx="3566160" cy="246888"/>
          </a:xfrm>
          <a:prstGeom prst="roundRect">
            <a:avLst>
              <a:gd name="adj" fmla="val 48148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3" name="Text 19"/>
          <p:cNvSpPr txBox="1"/>
          <p:nvPr/>
        </p:nvSpPr>
        <p:spPr>
          <a:xfrm>
            <a:off x="274320" y="731520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IMPACT ON THE TARGET AUDIENCE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274320" y="2788920"/>
            <a:ext cx="3108960" cy="246888"/>
          </a:xfrm>
          <a:prstGeom prst="roundRect">
            <a:avLst>
              <a:gd name="adj" fmla="val 48148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5" name="Text 21"/>
          <p:cNvSpPr txBox="1"/>
          <p:nvPr/>
        </p:nvSpPr>
        <p:spPr>
          <a:xfrm>
            <a:off x="274320" y="2788920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SELF-SUSTAINING BUSINESS MODEL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6126480" y="3410712"/>
            <a:ext cx="1645920" cy="246888"/>
          </a:xfrm>
          <a:prstGeom prst="roundRect">
            <a:avLst>
              <a:gd name="adj" fmla="val 48148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7" name="Text 23"/>
          <p:cNvSpPr txBox="1"/>
          <p:nvPr/>
        </p:nvSpPr>
        <p:spPr>
          <a:xfrm>
            <a:off x="6126480" y="3410712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91440"/>
            <a:ext cx="1005840" cy="457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A5FA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13716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Kalpataru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45720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AND REFERENCES</a:t>
            </a:r>
            <a:endParaRPr lang="en-US" sz="2200" dirty="0"/>
          </a:p>
        </p:txBody>
      </p:sp>
      <p:pic>
        <p:nvPicPr>
          <p:cNvPr id="5" name="Image 0" descr="img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54864"/>
            <a:ext cx="1325880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8595360" y="4937760"/>
            <a:ext cx="4572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37160" y="841248"/>
            <a:ext cx="4114800" cy="3063240"/>
          </a:xfrm>
          <a:prstGeom prst="roundRect">
            <a:avLst>
              <a:gd name="adj" fmla="val 2985"/>
            </a:avLst>
          </a:prstGeom>
          <a:solidFill>
            <a:srgbClr val="E4F4F8"/>
          </a:solidFill>
          <a:ln w="12700">
            <a:solidFill>
              <a:srgbClr val="666666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182880" y="914400"/>
            <a:ext cx="4023360" cy="2971800"/>
          </a:xfrm>
          <a:prstGeom prst="rect">
            <a:avLst/>
          </a:prstGeom>
          <a:noFill/>
          <a:ln/>
        </p:spPr>
        <p:txBody>
          <a:bodyPr wrap="square" lIns="38100" tIns="76200" rIns="76200" bIns="3810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Food-Pack-Mapper (npj Science of Food, 2026): </a:t>
            </a:r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295 OTR/WVTR data points from 49 studies, standardized units; open dataset and code.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CIRAD Dataverse: </a:t>
            </a:r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food-packaging composition and gas-permeability data from 50 articles, annotated by three experts.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sources: </a:t>
            </a:r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NIFTEM-T packaging-resin handbook and CFTRI packaging studies add WVTR, strength and sealing data.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FAO packaging properties table: </a:t>
            </a:r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thickness, transmission, strength and sealing temperature for common films.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</a:t>
            </a:r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Labuza moisture-gain shelf-life model and MAP respiration modelling. Add DOIs for every source used.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37160" y="4023360"/>
            <a:ext cx="4114800" cy="822960"/>
          </a:xfrm>
          <a:prstGeom prst="roundRect">
            <a:avLst>
              <a:gd name="adj" fmla="val 11111"/>
            </a:avLst>
          </a:prstGeom>
          <a:solidFill>
            <a:srgbClr val="FFD9A8"/>
          </a:solidFill>
          <a:ln w="12700">
            <a:solidFill>
              <a:srgbClr val="C9863B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137160" y="4023360"/>
            <a:ext cx="4114800" cy="8229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for requirements, literature data for materials, a DOI on every number.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34840" y="1024128"/>
          <a:ext cx="45262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685800"/>
                <a:gridCol w="731520"/>
                <a:gridCol w="731520"/>
                <a:gridCol w="6400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PS 26236 demands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B7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PackPulse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Consultants / lab trials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Rule-based apps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Black-box ML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Food-property based input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7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CDB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7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8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7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Computed OTR / WVTR / thickness specs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7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CDB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7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0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8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Respiration-aware MAP and micro-perforation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7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CDB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7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0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8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+ sustainability optimization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7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CDB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8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0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8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Explainable, source-grounded output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7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CDB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7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8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0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Regional-language, farmer-friendly access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7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CDB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0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0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0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QR traceability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7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CDB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0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0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0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2700" marB="12700" anchor="ctr">
                    <a:lnL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4434840" y="4297680"/>
            <a:ext cx="452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Available   |   △ Partial / limited   |   ✕ Not a core offering   (team’s indicative assessment)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822960" y="713232"/>
            <a:ext cx="2377440" cy="246888"/>
          </a:xfrm>
          <a:prstGeom prst="roundRect">
            <a:avLst>
              <a:gd name="adj" fmla="val 48148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 txBox="1"/>
          <p:nvPr/>
        </p:nvSpPr>
        <p:spPr>
          <a:xfrm>
            <a:off x="822960" y="713232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VALIDATION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486400" y="713232"/>
            <a:ext cx="3291840" cy="246888"/>
          </a:xfrm>
          <a:prstGeom prst="roundRect">
            <a:avLst>
              <a:gd name="adj" fmla="val 48148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7" name="Text 13"/>
          <p:cNvSpPr txBox="1"/>
          <p:nvPr/>
        </p:nvSpPr>
        <p:spPr>
          <a:xfrm>
            <a:off x="5486400" y="713232"/>
            <a:ext cx="3291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FEATURE GAP ANALYSIS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2026-09-29T11:08:12Z</dcterms:created>
  <dcterms:modified xsi:type="dcterms:W3CDTF">2026-09-29T11:08:12Z</dcterms:modified>
</cp:coreProperties>
</file>